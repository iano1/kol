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82677" r:id="rId5"/>
  </p:sldIdLst>
  <p:sldSz cx="12192000" cy="6858000"/>
  <p:notesSz cx="6889750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4D39FA-69F7-AA33-2491-BAE5F1DEA91D}" name="Loftus, Daniel" initials="DL" userId="S::d.loftus@accenture.com::60eb74d0-9e15-46bd-83f8-e9477e6530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FBE51-E181-404E-90AE-4DCA85D18C93}" v="21" dt="2026-10-26T15:25:45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93584" autoAdjust="0"/>
  </p:normalViewPr>
  <p:slideViewPr>
    <p:cSldViewPr snapToGrid="0">
      <p:cViewPr varScale="1">
        <p:scale>
          <a:sx n="90" d="100"/>
          <a:sy n="90" d="100"/>
        </p:scale>
        <p:origin x="171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F450A232-BC41-4E1C-B5D1-1ABF4973F628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43FB0A01-FFB7-4730-9013-85611C603E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2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5E69-941C-366B-D9B3-67F114CB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61E4C-03AE-1360-1353-B99451B2A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7AE9B-BCBA-8217-E765-511454422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7279D-3BE3-A056-CFA0-A40D67648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0A01-FFB7-4730-9013-85611C603E1E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3304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B815-B4F1-9DF6-4AB3-317BAED34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66304-6F9D-3652-989A-8C9C2F2A3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C5B2-388C-8833-C3B6-41AFA85E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E714B-E211-38D7-0831-2FCDB9E1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EC695-5D50-D13D-A5C2-2214CB66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2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C7B8-F9A2-107F-4241-377B834A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98CBC-E8BE-0BE1-63AD-34CC114F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C056D-09A3-B8AD-21A7-BCE8E95C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2D1D2-8621-44C3-667C-D7E5F237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00CA-20F4-E257-A5EB-EE035E9E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87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5679-8DB2-43AA-35BE-93B919223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BFD08-51E1-5E73-96B0-28834EFEE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C2903-D268-9972-5225-3F44441B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13B37-AE63-AB24-A9C1-AE088977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6BFDC-2AE8-0CC5-4E90-A3983082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31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948E-718D-122E-8BD7-F924E8AC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7A64A-735D-CED7-0C0C-3A17CC9F1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9FE30-EFE6-4A1C-BF75-CF80982CA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2BE05-E2D6-D3C4-5014-B4D7600B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3EA03-F42C-756B-4452-BC31C5CA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83B3B-6CF6-B400-4208-B8D3230C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39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EA5D4-6696-95C8-8B28-1E24D3B7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D17A0-7D7A-E43F-CC43-486E0B5FB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BC247-7822-5F41-7E7D-2F701A97C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C5D15-E61A-E138-07FE-22B4133D7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043F9-718B-8E61-08A2-4314C7F1A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34DD0-76D2-D20D-A43C-A20B7600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D6370-3188-CEB0-A9C5-33585D59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68E72-4105-B59A-ADC9-D5B4BACA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06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43C7-E09E-67F6-8C5F-E75DEBEB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CB6C6-C905-42BC-2051-84CD9D6B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ADC6F-650A-7407-62E9-1E8A41C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418D2-2372-4B17-6BFD-F9ADBCD0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567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726B4-090A-089F-8CF7-10323B50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837E7-B226-808A-6B82-D6799171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D00DA-D317-0D53-1500-27FCA34D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FFFE-31A1-CD15-99AF-C53D871C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D37DF-9356-3686-119C-87F1BC0F4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A9CB0-62C1-3B64-28A1-FDF3C99B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E386F-75E7-EE55-2FA3-491122F6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54E6-8282-48B8-940A-FA3C7FD6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C9607-9D35-8A86-7227-32DD7332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82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ADA9-C31C-D3AD-FD5F-F2B8C235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8C418-7B84-8A4E-B515-CCE898121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91726-3FC2-E7B9-0728-073433433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B6CD8-FF18-5138-DAB6-2AB406AF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C2F7A-6754-5201-5C96-A8D56F99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20F9C-67DF-BC73-C96A-B0523ECA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33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C49A-871E-C60A-75B3-3DE317C2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F8DF1-0389-4C4B-3D66-36600DAA3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60DDF-2DCB-6D01-E6E6-3351DD07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B7039-ACCA-EA42-4B67-9480BDA80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957E-0430-1D0F-D3E3-559732D5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01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21ECC-E7C7-0CFC-E4B2-F04A5859D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7F7D9-16AD-E9A3-2B94-CFE80C933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F9BDF-6143-8A9D-1E01-67F069AC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0CEE1-9886-890E-D27E-1155A75F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0220-1734-F237-0D26-5E9224C9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848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E634E2-C7B6-30C6-3F03-D6151AE9CE0E}"/>
              </a:ext>
            </a:extLst>
          </p:cNvPr>
          <p:cNvSpPr/>
          <p:nvPr userDrawn="1"/>
        </p:nvSpPr>
        <p:spPr>
          <a:xfrm rot="16200000">
            <a:off x="5961839" y="-5221116"/>
            <a:ext cx="222600" cy="1214628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  <a:alpha val="33000"/>
                </a:schemeClr>
              </a:gs>
              <a:gs pos="0">
                <a:schemeClr val="bg1">
                  <a:lumMod val="9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D40141-F7EB-0C5C-0812-73EE333467B7}"/>
              </a:ext>
            </a:extLst>
          </p:cNvPr>
          <p:cNvSpPr/>
          <p:nvPr userDrawn="1"/>
        </p:nvSpPr>
        <p:spPr>
          <a:xfrm>
            <a:off x="323420" y="360000"/>
            <a:ext cx="11777140" cy="359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alpha val="49000"/>
                </a:schemeClr>
              </a:gs>
              <a:gs pos="100000">
                <a:schemeClr val="accent1">
                  <a:lumMod val="50000"/>
                  <a:alpha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42E8B7-B279-23B1-1B40-E2FD0052FCA6}"/>
              </a:ext>
            </a:extLst>
          </p:cNvPr>
          <p:cNvSpPr/>
          <p:nvPr userDrawn="1"/>
        </p:nvSpPr>
        <p:spPr>
          <a:xfrm rot="10800000">
            <a:off x="324000" y="0"/>
            <a:ext cx="324000" cy="6858000"/>
          </a:xfrm>
          <a:prstGeom prst="rect">
            <a:avLst/>
          </a:prstGeom>
          <a:gradFill flip="none" rotWithShape="1">
            <a:gsLst>
              <a:gs pos="99000">
                <a:schemeClr val="accent1">
                  <a:lumMod val="50000"/>
                  <a:alpha val="20365"/>
                </a:schemeClr>
              </a:gs>
              <a:gs pos="0">
                <a:schemeClr val="bg1">
                  <a:lumMod val="9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0000" bIns="46800"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B792EE-7D18-F7B8-2FA2-7F14BD373A2D}"/>
              </a:ext>
            </a:extLst>
          </p:cNvPr>
          <p:cNvSpPr/>
          <p:nvPr userDrawn="1"/>
        </p:nvSpPr>
        <p:spPr>
          <a:xfrm>
            <a:off x="0" y="0"/>
            <a:ext cx="324000" cy="360000"/>
          </a:xfrm>
          <a:prstGeom prst="rect">
            <a:avLst/>
          </a:prstGeom>
          <a:solidFill>
            <a:srgbClr val="7BC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6AC0C5-B939-68CE-4B7A-859782ABB313}"/>
              </a:ext>
            </a:extLst>
          </p:cNvPr>
          <p:cNvSpPr/>
          <p:nvPr userDrawn="1"/>
        </p:nvSpPr>
        <p:spPr>
          <a:xfrm>
            <a:off x="1" y="696568"/>
            <a:ext cx="324000" cy="6161432"/>
          </a:xfrm>
          <a:prstGeom prst="rect">
            <a:avLst/>
          </a:prstGeom>
          <a:solidFill>
            <a:srgbClr val="00A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A1758F-BC6E-DEEB-ABB0-5568FA6505D0}"/>
              </a:ext>
            </a:extLst>
          </p:cNvPr>
          <p:cNvSpPr/>
          <p:nvPr userDrawn="1"/>
        </p:nvSpPr>
        <p:spPr>
          <a:xfrm>
            <a:off x="-578" y="360000"/>
            <a:ext cx="324000" cy="360000"/>
          </a:xfrm>
          <a:prstGeom prst="rect">
            <a:avLst/>
          </a:prstGeom>
          <a:solidFill>
            <a:srgbClr val="FEBB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8090AE48-331E-130D-FE6F-0D79CBF2D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6841" y="6576991"/>
            <a:ext cx="2417372" cy="280987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/>
            </a:lvl1pPr>
          </a:lstStyle>
          <a:p>
            <a:r>
              <a:rPr lang="en-US" err="1"/>
              <a:t>Uniphar</a:t>
            </a:r>
            <a:r>
              <a:rPr lang="en-US"/>
              <a:t> | May 2023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1BD87A1A-B8D7-FCDF-6120-F053D66FC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577" y="6576992"/>
            <a:ext cx="323998" cy="28089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/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227263-AE53-7AA8-142D-2A7244CDE22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718" r="7550"/>
          <a:stretch/>
        </p:blipFill>
        <p:spPr>
          <a:xfrm>
            <a:off x="10362559" y="0"/>
            <a:ext cx="1829441" cy="9821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8D18F0-6792-C087-95F2-70226D0135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8867" y="246741"/>
            <a:ext cx="1173830" cy="3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1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19537-26EA-D969-BD3B-ADBEDB98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24960-F933-E16E-F039-197C11AC7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DACF-E64D-A41E-327C-81FCE1768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FF45F-043F-4CC8-ACA6-2084BF3AF7C0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03B96-9AE7-08DC-4276-7665A3F8A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B667-4BA9-91DC-5C55-7E32488F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5B8AC-DFE9-4F7D-AF6A-585169E51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92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CD456-1C61-349B-47E2-F0575E01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B6BB093-6804-2B19-7C43-BF29E0CE3B6D}"/>
              </a:ext>
            </a:extLst>
          </p:cNvPr>
          <p:cNvSpPr txBox="1"/>
          <p:nvPr/>
        </p:nvSpPr>
        <p:spPr>
          <a:xfrm>
            <a:off x="370801" y="121445"/>
            <a:ext cx="9404135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Transformation &amp; Technology Office - </a:t>
            </a:r>
            <a:r>
              <a:rPr lang="en-GB" sz="2400" b="1" noProof="0" dirty="0"/>
              <a:t> TOM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009AAD3-50AC-9EDC-7A4B-933FF7DD1906}"/>
              </a:ext>
            </a:extLst>
          </p:cNvPr>
          <p:cNvSpPr/>
          <p:nvPr/>
        </p:nvSpPr>
        <p:spPr>
          <a:xfrm>
            <a:off x="1058182" y="1713505"/>
            <a:ext cx="2094156" cy="25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endParaRPr lang="en-GB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6A7FB5F-A1AD-117F-97FA-959274625401}"/>
              </a:ext>
            </a:extLst>
          </p:cNvPr>
          <p:cNvSpPr/>
          <p:nvPr/>
        </p:nvSpPr>
        <p:spPr>
          <a:xfrm>
            <a:off x="1058182" y="1981767"/>
            <a:ext cx="4325623" cy="793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endParaRPr lang="en-GB"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37AA333-D45E-11F8-750E-1A621C476B14}"/>
              </a:ext>
            </a:extLst>
          </p:cNvPr>
          <p:cNvSpPr/>
          <p:nvPr/>
        </p:nvSpPr>
        <p:spPr>
          <a:xfrm>
            <a:off x="5418582" y="2563498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8826AFB9-B650-F6F3-4DE8-03668E7F8BEF}"/>
              </a:ext>
            </a:extLst>
          </p:cNvPr>
          <p:cNvSpPr/>
          <p:nvPr/>
        </p:nvSpPr>
        <p:spPr>
          <a:xfrm>
            <a:off x="1875283" y="4081402"/>
            <a:ext cx="16764" cy="152400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775CD5D-E85A-523A-F77A-AB938E4CABB0}"/>
              </a:ext>
            </a:extLst>
          </p:cNvPr>
          <p:cNvSpPr/>
          <p:nvPr/>
        </p:nvSpPr>
        <p:spPr>
          <a:xfrm>
            <a:off x="3646933" y="4081402"/>
            <a:ext cx="16764" cy="152400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0C4A47E-E5DB-BD5E-7817-A07AA87A7500}"/>
              </a:ext>
            </a:extLst>
          </p:cNvPr>
          <p:cNvSpPr/>
          <p:nvPr/>
        </p:nvSpPr>
        <p:spPr>
          <a:xfrm>
            <a:off x="5418583" y="4081402"/>
            <a:ext cx="16764" cy="152400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C099DF55-14FC-CBF8-5C3C-A1880A1CE057}"/>
              </a:ext>
            </a:extLst>
          </p:cNvPr>
          <p:cNvSpPr/>
          <p:nvPr/>
        </p:nvSpPr>
        <p:spPr>
          <a:xfrm>
            <a:off x="7840980" y="1201841"/>
            <a:ext cx="3947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67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HOW IT DELIVERS</a:t>
            </a:r>
            <a:endParaRPr lang="en-US" sz="1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6E7E0A-5D73-D1B4-4DF6-B4ED7DA302DE}"/>
              </a:ext>
            </a:extLst>
          </p:cNvPr>
          <p:cNvSpPr/>
          <p:nvPr/>
        </p:nvSpPr>
        <p:spPr>
          <a:xfrm>
            <a:off x="441960" y="935736"/>
            <a:ext cx="11308080" cy="41850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One Technology Organisation, aligned to our Business</a:t>
            </a:r>
          </a:p>
          <a:p>
            <a:pPr algn="ctr"/>
            <a:r>
              <a:rPr lang="en-GB" sz="1200" dirty="0"/>
              <a:t>with the people and capabilities require to Transform, Build, Change &amp; Run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296117-01C4-9029-33F4-BA7835B09826}"/>
              </a:ext>
            </a:extLst>
          </p:cNvPr>
          <p:cNvSpPr/>
          <p:nvPr/>
        </p:nvSpPr>
        <p:spPr>
          <a:xfrm>
            <a:off x="429768" y="5905166"/>
            <a:ext cx="11308080" cy="41850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Culture: One Team, Ownership &amp; Accountability, Pace with discipline, Transparency without fear, Challenge &amp; Commit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814B64-2495-4E04-C936-7F10926C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951" y="1696546"/>
            <a:ext cx="5125976" cy="3905808"/>
          </a:xfrm>
          <a:prstGeom prst="rect">
            <a:avLst/>
          </a:prstGeom>
        </p:spPr>
      </p:pic>
      <p:sp>
        <p:nvSpPr>
          <p:cNvPr id="24" name="Shape 8">
            <a:extLst>
              <a:ext uri="{FF2B5EF4-FFF2-40B4-BE49-F238E27FC236}">
                <a16:creationId xmlns:a16="http://schemas.microsoft.com/office/drawing/2014/main" id="{2D17DE8D-1B42-717D-75CA-A0B3EEAC668A}"/>
              </a:ext>
            </a:extLst>
          </p:cNvPr>
          <p:cNvSpPr/>
          <p:nvPr/>
        </p:nvSpPr>
        <p:spPr>
          <a:xfrm>
            <a:off x="3640837" y="2517778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FCA94BCA-8CB3-185A-DDBE-D35C119803C8}"/>
              </a:ext>
            </a:extLst>
          </p:cNvPr>
          <p:cNvSpPr/>
          <p:nvPr/>
        </p:nvSpPr>
        <p:spPr>
          <a:xfrm>
            <a:off x="1846328" y="2516050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2A8E1BE5-964E-B4CA-00A0-8FAC597F0CED}"/>
              </a:ext>
            </a:extLst>
          </p:cNvPr>
          <p:cNvSpPr/>
          <p:nvPr/>
        </p:nvSpPr>
        <p:spPr>
          <a:xfrm>
            <a:off x="1846327" y="4055420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3FFC4A91-F571-6303-A28D-2E2A35F5FDE9}"/>
              </a:ext>
            </a:extLst>
          </p:cNvPr>
          <p:cNvSpPr/>
          <p:nvPr/>
        </p:nvSpPr>
        <p:spPr>
          <a:xfrm>
            <a:off x="3625596" y="4036863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23BEC887-E885-DA34-D51B-FE3DB685A85C}"/>
              </a:ext>
            </a:extLst>
          </p:cNvPr>
          <p:cNvSpPr/>
          <p:nvPr/>
        </p:nvSpPr>
        <p:spPr>
          <a:xfrm>
            <a:off x="5426965" y="4017924"/>
            <a:ext cx="45719" cy="646176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733FFFBF-2AE4-6C9B-C7FE-481EC165A5FD}"/>
              </a:ext>
            </a:extLst>
          </p:cNvPr>
          <p:cNvSpPr/>
          <p:nvPr/>
        </p:nvSpPr>
        <p:spPr>
          <a:xfrm>
            <a:off x="1875283" y="3057274"/>
            <a:ext cx="16764" cy="152400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4E1D97DA-A689-6682-08B4-4C527FA7B819}"/>
              </a:ext>
            </a:extLst>
          </p:cNvPr>
          <p:cNvSpPr/>
          <p:nvPr/>
        </p:nvSpPr>
        <p:spPr>
          <a:xfrm>
            <a:off x="3646933" y="3057274"/>
            <a:ext cx="16764" cy="152400"/>
          </a:xfrm>
          <a:prstGeom prst="rect">
            <a:avLst/>
          </a:prstGeom>
          <a:solidFill>
            <a:srgbClr val="EFAE00"/>
          </a:solidFill>
          <a:ln w="12700">
            <a:solidFill>
              <a:srgbClr val="EFAE0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B66A01C3-B878-FCC3-FB49-1BB2BE7BC748}"/>
              </a:ext>
            </a:extLst>
          </p:cNvPr>
          <p:cNvSpPr/>
          <p:nvPr/>
        </p:nvSpPr>
        <p:spPr>
          <a:xfrm>
            <a:off x="441960" y="3146856"/>
            <a:ext cx="6138672" cy="986362"/>
          </a:xfrm>
          <a:prstGeom prst="roundRect">
            <a:avLst>
              <a:gd name="adj" fmla="val 6716"/>
            </a:avLst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BC9BA27-4EF9-F0C5-64A4-A624973AB425}"/>
              </a:ext>
            </a:extLst>
          </p:cNvPr>
          <p:cNvSpPr/>
          <p:nvPr/>
        </p:nvSpPr>
        <p:spPr>
          <a:xfrm>
            <a:off x="670560" y="3013660"/>
            <a:ext cx="5910072" cy="112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17"/>
              </a:spcAft>
            </a:pPr>
            <a:r>
              <a:rPr lang="en-US" sz="1208" b="1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SERVICES  LAYER </a:t>
            </a:r>
            <a:r>
              <a:rPr lang="en-US" sz="120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 (ORCHESTRATION) – Focus Pillars: 2, 3, 4</a:t>
            </a:r>
            <a:endParaRPr lang="en-US" sz="1208" dirty="0"/>
          </a:p>
          <a:p>
            <a:r>
              <a:rPr lang="en-US" sz="1000" dirty="0">
                <a:solidFill>
                  <a:srgbClr val="CFDCF5"/>
                </a:solidFill>
                <a:latin typeface="Raleway" pitchFamily="34" charset="0"/>
              </a:rPr>
              <a:t>Security, Architecture &amp; Engineering – CTO</a:t>
            </a:r>
          </a:p>
          <a:p>
            <a:r>
              <a:rPr lang="en-US" sz="1000" dirty="0">
                <a:solidFill>
                  <a:srgbClr val="CFDCF5"/>
                </a:solidFill>
                <a:latin typeface="Raleway" pitchFamily="34" charset="0"/>
              </a:rPr>
              <a:t>Shared Services CIO  </a:t>
            </a:r>
          </a:p>
          <a:p>
            <a:r>
              <a:rPr lang="en-US" sz="1000" dirty="0">
                <a:solidFill>
                  <a:srgbClr val="CFDCF5"/>
                </a:solidFill>
                <a:latin typeface="Raleway" pitchFamily="34" charset="0"/>
              </a:rPr>
              <a:t>Portfolio Director</a:t>
            </a: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75967D65-6FF0-F1A7-16BA-C983D4E9532F}"/>
              </a:ext>
            </a:extLst>
          </p:cNvPr>
          <p:cNvSpPr/>
          <p:nvPr/>
        </p:nvSpPr>
        <p:spPr>
          <a:xfrm>
            <a:off x="441960" y="1482448"/>
            <a:ext cx="6155436" cy="1096477"/>
          </a:xfrm>
          <a:prstGeom prst="roundRect">
            <a:avLst>
              <a:gd name="adj" fmla="val 9783"/>
            </a:avLst>
          </a:prstGeom>
          <a:solidFill>
            <a:schemeClr val="accent1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2800" b="1" u="sng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E672F8BE-8B4C-5B88-1133-565691ADF7D3}"/>
              </a:ext>
            </a:extLst>
          </p:cNvPr>
          <p:cNvSpPr/>
          <p:nvPr/>
        </p:nvSpPr>
        <p:spPr>
          <a:xfrm>
            <a:off x="670560" y="1403873"/>
            <a:ext cx="5910072" cy="96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17"/>
              </a:spcAft>
            </a:pPr>
            <a:r>
              <a:rPr lang="en-US" sz="120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ENGAGEMENT LAYER  - (TRANSFORM) – Focus Pillars: 1, 2, 4</a:t>
            </a:r>
            <a:endParaRPr lang="en-US" sz="1208" dirty="0"/>
          </a:p>
          <a:p>
            <a:r>
              <a:rPr lang="en-US" sz="1000" b="1" u="sng" dirty="0">
                <a:solidFill>
                  <a:srgbClr val="D5DEF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 CIO’s </a:t>
            </a:r>
          </a:p>
          <a:p>
            <a:r>
              <a:rPr lang="en-US" sz="1000" dirty="0">
                <a:solidFill>
                  <a:srgbClr val="D5DEF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Supply Chain &amp; Retail CIO</a:t>
            </a:r>
          </a:p>
          <a:p>
            <a:r>
              <a:rPr lang="en-US" sz="1000" dirty="0">
                <a:solidFill>
                  <a:srgbClr val="D5DEF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Medtech CIO</a:t>
            </a: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7F0308F1-A020-053E-F028-589585BB6219}"/>
              </a:ext>
            </a:extLst>
          </p:cNvPr>
          <p:cNvSpPr/>
          <p:nvPr/>
        </p:nvSpPr>
        <p:spPr>
          <a:xfrm>
            <a:off x="441960" y="4675762"/>
            <a:ext cx="6138672" cy="990600"/>
          </a:xfrm>
          <a:prstGeom prst="roundRect">
            <a:avLst>
              <a:gd name="adj" fmla="val 6923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2E8B74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5F3A83FB-2315-8CE2-C7B5-FDB145955420}"/>
              </a:ext>
            </a:extLst>
          </p:cNvPr>
          <p:cNvSpPr/>
          <p:nvPr/>
        </p:nvSpPr>
        <p:spPr>
          <a:xfrm>
            <a:off x="670560" y="4574468"/>
            <a:ext cx="5910072" cy="1007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17"/>
              </a:spcAft>
            </a:pPr>
            <a:r>
              <a:rPr lang="en-US" sz="120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ENABLEMENT TOWERS  LAYER - (BUILD, CHANGE</a:t>
            </a:r>
            <a:r>
              <a:rPr lang="en-US" sz="1208" b="1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RUN) </a:t>
            </a:r>
            <a:r>
              <a:rPr lang="en-US" sz="120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– </a:t>
            </a:r>
            <a:r>
              <a:rPr lang="en-US" sz="1208" b="1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Focus Pillars: 3</a:t>
            </a:r>
            <a:r>
              <a:rPr lang="en-US" sz="120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4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Architecture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&amp;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D24A5-2E6D-54EA-E3F9-102E0D1A6042}"/>
              </a:ext>
            </a:extLst>
          </p:cNvPr>
          <p:cNvSpPr txBox="1"/>
          <p:nvPr/>
        </p:nvSpPr>
        <p:spPr>
          <a:xfrm>
            <a:off x="2549667" y="1877799"/>
            <a:ext cx="344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D5DEF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Pharma Services &amp; Global Sourcing CIO</a:t>
            </a:r>
          </a:p>
          <a:p>
            <a:r>
              <a:rPr lang="en-US" sz="1000" dirty="0">
                <a:solidFill>
                  <a:srgbClr val="D5DEF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Group Services Portfolio Director</a:t>
            </a:r>
            <a:endParaRPr lang="en-US" sz="1208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0B018-EBDE-CB0B-5DEF-2198B1F27D84}"/>
              </a:ext>
            </a:extLst>
          </p:cNvPr>
          <p:cNvSpPr txBox="1"/>
          <p:nvPr/>
        </p:nvSpPr>
        <p:spPr>
          <a:xfrm>
            <a:off x="3495900" y="3409300"/>
            <a:ext cx="3084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CFDCF5"/>
                </a:solidFill>
                <a:latin typeface="Raleway" pitchFamily="34" charset="0"/>
              </a:rPr>
              <a:t>Head of Enterprise Applications</a:t>
            </a:r>
          </a:p>
          <a:p>
            <a:r>
              <a:rPr lang="en-US" sz="1000" dirty="0">
                <a:solidFill>
                  <a:srgbClr val="CFDCF5"/>
                </a:solidFill>
                <a:latin typeface="Raleway" pitchFamily="34" charset="0"/>
              </a:rPr>
              <a:t>Chief Data &amp; Ai Officer</a:t>
            </a:r>
            <a:r>
              <a:rPr lang="en-US" sz="1000" b="1" u="sng" dirty="0">
                <a:solidFill>
                  <a:srgbClr val="CFDCF5"/>
                </a:solidFill>
                <a:latin typeface="Raleway" pitchFamily="34" charset="0"/>
              </a:rPr>
              <a:t> </a:t>
            </a:r>
            <a:endParaRPr lang="en-US" sz="1208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2C3135-AF81-E687-723D-2F9BF4C56583}"/>
              </a:ext>
            </a:extLst>
          </p:cNvPr>
          <p:cNvSpPr txBox="1"/>
          <p:nvPr/>
        </p:nvSpPr>
        <p:spPr>
          <a:xfrm>
            <a:off x="3375395" y="4919284"/>
            <a:ext cx="14714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Management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Analyst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</a:t>
            </a:r>
            <a:r>
              <a:rPr lang="en-US" sz="1000" b="1" u="sng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208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75F2E-6F40-7F88-C747-9B9E99906AD4}"/>
              </a:ext>
            </a:extLst>
          </p:cNvPr>
          <p:cNvSpPr txBox="1"/>
          <p:nvPr/>
        </p:nvSpPr>
        <p:spPr>
          <a:xfrm>
            <a:off x="2022404" y="4907870"/>
            <a:ext cx="1453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Infrastructure</a:t>
            </a:r>
            <a:endParaRPr lang="en-US" sz="1000" dirty="0">
              <a:solidFill>
                <a:srgbClr val="D8EFE8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Operations &amp; EUC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Management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0858A6-DE67-F90B-C722-5C883695E64F}"/>
              </a:ext>
            </a:extLst>
          </p:cNvPr>
          <p:cNvSpPr txBox="1"/>
          <p:nvPr/>
        </p:nvSpPr>
        <p:spPr>
          <a:xfrm>
            <a:off x="4773894" y="4913095"/>
            <a:ext cx="18778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Application Towers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Integration</a:t>
            </a:r>
          </a:p>
          <a:p>
            <a:r>
              <a:rPr lang="en-US" sz="1000" dirty="0">
                <a:solidFill>
                  <a:srgbClr val="D8EFE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Data, Automation &amp; Ai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66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ccebdc-7a6f-40ee-8578-3b12d4507d2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F5B452453D1648871D39DDC98F9154" ma:contentTypeVersion="9" ma:contentTypeDescription="Create a new document." ma:contentTypeScope="" ma:versionID="a3f38cdad7ad635d18fc74b68e1e48b8">
  <xsd:schema xmlns:xsd="http://www.w3.org/2001/XMLSchema" xmlns:xs="http://www.w3.org/2001/XMLSchema" xmlns:p="http://schemas.microsoft.com/office/2006/metadata/properties" xmlns:ns3="77ccebdc-7a6f-40ee-8578-3b12d4507d23" targetNamespace="http://schemas.microsoft.com/office/2006/metadata/properties" ma:root="true" ma:fieldsID="2e602856ebf99fcc453c37ebeb263e82" ns3:_="">
    <xsd:import namespace="77ccebdc-7a6f-40ee-8578-3b12d4507d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cebdc-7a6f-40ee-8578-3b12d4507d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BA0209-22DD-4D68-BEFA-1E0FEE66FF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C811BD-E644-4B77-8514-96ACE0805DA7}">
  <ds:schemaRefs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7ccebdc-7a6f-40ee-8578-3b12d4507d2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82063C-3060-4510-9405-0BD2A47C0D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ccebdc-7a6f-40ee-8578-3b12d4507d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Raleway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Garman</dc:creator>
  <cp:lastModifiedBy>Ian Pepper</cp:lastModifiedBy>
  <cp:revision>19</cp:revision>
  <cp:lastPrinted>2026-08-11T12:25:36Z</cp:lastPrinted>
  <dcterms:created xsi:type="dcterms:W3CDTF">2026-02-04T12:35:30Z</dcterms:created>
  <dcterms:modified xsi:type="dcterms:W3CDTF">2026-10-30T08:46:47Z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0x01010015F5B452453D1648871D39DDC98F9154</vt:lpwstr>
  </property>
</Properties>
</file>